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70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48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3F6CC-0BE8-4251-B474-211A365D86A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4D15C-F850-43F5-8B7B-7316DBA5A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2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74D15C-F850-43F5-8B7B-7316DBA5A6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8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8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1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8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7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1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0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8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9848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9064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23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2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7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947" y="1295538"/>
            <a:ext cx="6619244" cy="1212369"/>
          </a:xfrm>
        </p:spPr>
        <p:txBody>
          <a:bodyPr>
            <a:normAutofit/>
          </a:bodyPr>
          <a:lstStyle/>
          <a:p>
            <a:r>
              <a:rPr lang="en-US" dirty="0" smtClean="0"/>
              <a:t>Welcome Everyone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462" y="2619632"/>
            <a:ext cx="7647512" cy="345989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                      Topic: </a:t>
            </a:r>
            <a:r>
              <a:rPr lang="en-US" sz="2400" dirty="0" err="1" smtClean="0">
                <a:solidFill>
                  <a:schemeClr val="accent2">
                    <a:lumMod val="50000"/>
                  </a:schemeClr>
                </a:solidFill>
              </a:rPr>
              <a:t>Chatgpt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to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T</a:t>
            </a:r>
            <a:r>
              <a:rPr lang="en-US" sz="2400" dirty="0" err="1" smtClean="0">
                <a:solidFill>
                  <a:schemeClr val="accent2">
                    <a:lumMod val="50000"/>
                  </a:schemeClr>
                </a:solidFill>
              </a:rPr>
              <a:t>hreatgpt</a:t>
            </a:r>
            <a:endParaRPr lang="en-US" sz="2400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l"/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Presented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by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Chinmoy </a:t>
            </a:r>
            <a:r>
              <a:rPr lang="en-US" sz="2400" dirty="0" err="1" smtClean="0">
                <a:solidFill>
                  <a:srgbClr val="FF0000"/>
                </a:solidFill>
              </a:rPr>
              <a:t>Debnath</a:t>
            </a:r>
            <a:r>
              <a:rPr lang="en-US" sz="2400" dirty="0" smtClean="0">
                <a:solidFill>
                  <a:srgbClr val="FF0000"/>
                </a:solidFill>
              </a:rPr>
              <a:t> &amp; </a:t>
            </a:r>
            <a:r>
              <a:rPr lang="en-US" sz="2400" dirty="0" err="1" smtClean="0">
                <a:solidFill>
                  <a:srgbClr val="FF0000"/>
                </a:solidFill>
              </a:rPr>
              <a:t>Promod</a:t>
            </a:r>
            <a:r>
              <a:rPr lang="en-US" sz="2400" dirty="0" smtClean="0">
                <a:solidFill>
                  <a:srgbClr val="FF0000"/>
                </a:solidFill>
              </a:rPr>
              <a:t> Chandra Das    </a:t>
            </a:r>
            <a:endParaRPr lang="en-US" sz="2400" dirty="0">
              <a:solidFill>
                <a:srgbClr val="FF0000"/>
              </a:solidFill>
            </a:endParaRPr>
          </a:p>
          <a:p>
            <a:pPr algn="l"/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Id:</a:t>
            </a:r>
            <a:r>
              <a:rPr lang="en-US" sz="2400" dirty="0" smtClean="0">
                <a:solidFill>
                  <a:srgbClr val="FF0000"/>
                </a:solidFill>
              </a:rPr>
              <a:t>231902029  &amp; 231002005</a:t>
            </a:r>
            <a:endParaRPr lang="en-US" sz="2400" dirty="0">
              <a:solidFill>
                <a:srgbClr val="FF0000"/>
              </a:solidFill>
            </a:endParaRPr>
          </a:p>
          <a:p>
            <a:pPr algn="l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Course: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Artificial Intelligence </a:t>
            </a:r>
          </a:p>
          <a:p>
            <a:pPr algn="l"/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Section: </a:t>
            </a:r>
            <a:r>
              <a:rPr lang="en-US" sz="2400" dirty="0" smtClean="0">
                <a:solidFill>
                  <a:srgbClr val="FF0000"/>
                </a:solidFill>
              </a:rPr>
              <a:t>231_D1</a:t>
            </a:r>
            <a:endParaRPr lang="en-US" sz="2400" dirty="0">
              <a:solidFill>
                <a:srgbClr val="FF0000"/>
              </a:solidFill>
            </a:endParaRPr>
          </a:p>
          <a:p>
            <a:pPr algn="l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Date: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31/10/2025</a:t>
            </a:r>
            <a:r>
              <a:rPr lang="en-US" sz="2400" dirty="0" smtClean="0"/>
              <a:t>                                                   </a:t>
            </a:r>
            <a:r>
              <a:rPr lang="en-US" sz="2400" b="1" dirty="0" smtClean="0">
                <a:solidFill>
                  <a:srgbClr val="FF0000"/>
                </a:solidFill>
              </a:rPr>
              <a:t>1        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sz="1800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5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3169"/>
            <a:ext cx="8229600" cy="4926755"/>
          </a:xfrm>
        </p:spPr>
        <p:txBody>
          <a:bodyPr>
            <a:normAutofit/>
          </a:bodyPr>
          <a:lstStyle/>
          <a:p>
            <a:r>
              <a:rPr dirty="0"/>
              <a:t>1. </a:t>
            </a:r>
            <a:r>
              <a:rPr lang="en-US" dirty="0" smtClean="0"/>
              <a:t>Title</a:t>
            </a:r>
          </a:p>
          <a:p>
            <a:r>
              <a:rPr lang="en-US" dirty="0" smtClean="0"/>
              <a:t>2. </a:t>
            </a:r>
            <a:r>
              <a:rPr lang="en-US" dirty="0"/>
              <a:t>Introduction</a:t>
            </a:r>
          </a:p>
          <a:p>
            <a:r>
              <a:rPr lang="en-US" dirty="0"/>
              <a:t>3</a:t>
            </a:r>
            <a:r>
              <a:rPr dirty="0" smtClean="0"/>
              <a:t>. </a:t>
            </a:r>
            <a:r>
              <a:rPr dirty="0"/>
              <a:t>Evolution of Generative AI</a:t>
            </a:r>
          </a:p>
          <a:p>
            <a:r>
              <a:rPr lang="en-US" dirty="0" smtClean="0"/>
              <a:t>4</a:t>
            </a:r>
            <a:r>
              <a:rPr dirty="0" smtClean="0"/>
              <a:t>. </a:t>
            </a:r>
            <a:r>
              <a:rPr dirty="0"/>
              <a:t>Impact on Cybersecurity</a:t>
            </a:r>
          </a:p>
          <a:p>
            <a:r>
              <a:rPr lang="en-US" dirty="0" smtClean="0"/>
              <a:t>5</a:t>
            </a:r>
            <a:r>
              <a:rPr dirty="0" smtClean="0"/>
              <a:t>. </a:t>
            </a:r>
            <a:r>
              <a:rPr dirty="0"/>
              <a:t>Attacking </a:t>
            </a:r>
            <a:r>
              <a:rPr dirty="0" err="1"/>
              <a:t>ChatGPT</a:t>
            </a:r>
            <a:endParaRPr dirty="0"/>
          </a:p>
          <a:p>
            <a:r>
              <a:rPr lang="en-US" dirty="0" smtClean="0"/>
              <a:t>6</a:t>
            </a:r>
            <a:r>
              <a:rPr dirty="0" smtClean="0"/>
              <a:t>. </a:t>
            </a:r>
            <a:r>
              <a:rPr dirty="0" err="1"/>
              <a:t>ChatGPT</a:t>
            </a:r>
            <a:r>
              <a:rPr dirty="0"/>
              <a:t> for Cyber Offense</a:t>
            </a:r>
          </a:p>
          <a:p>
            <a:r>
              <a:rPr lang="en-US" dirty="0" smtClean="0"/>
              <a:t>7</a:t>
            </a:r>
            <a:r>
              <a:rPr dirty="0" smtClean="0"/>
              <a:t>. </a:t>
            </a:r>
            <a:r>
              <a:rPr dirty="0" err="1"/>
              <a:t>ChatGPT</a:t>
            </a:r>
            <a:r>
              <a:rPr dirty="0"/>
              <a:t> for Cyber Defense</a:t>
            </a:r>
          </a:p>
          <a:p>
            <a:r>
              <a:rPr lang="en-US" dirty="0" smtClean="0"/>
              <a:t>8</a:t>
            </a:r>
            <a:r>
              <a:rPr dirty="0" smtClean="0"/>
              <a:t>. </a:t>
            </a:r>
            <a:r>
              <a:rPr dirty="0"/>
              <a:t>Ethical and Privacy Issues</a:t>
            </a:r>
          </a:p>
          <a:p>
            <a:r>
              <a:rPr lang="en-US" dirty="0" smtClean="0"/>
              <a:t>9</a:t>
            </a:r>
            <a:r>
              <a:rPr dirty="0" smtClean="0"/>
              <a:t>. </a:t>
            </a:r>
            <a:r>
              <a:rPr dirty="0" err="1"/>
              <a:t>ChatGPT</a:t>
            </a:r>
            <a:r>
              <a:rPr dirty="0"/>
              <a:t> vs Bard</a:t>
            </a:r>
          </a:p>
          <a:p>
            <a:r>
              <a:rPr lang="en-US" dirty="0" smtClean="0"/>
              <a:t>10</a:t>
            </a:r>
            <a:r>
              <a:rPr dirty="0" smtClean="0"/>
              <a:t>. Future</a:t>
            </a:r>
            <a:r>
              <a:rPr lang="en-US" dirty="0" smtClean="0"/>
              <a:t> Research</a:t>
            </a:r>
            <a:r>
              <a:rPr dirty="0" smtClean="0"/>
              <a:t> </a:t>
            </a:r>
            <a:r>
              <a:rPr dirty="0"/>
              <a:t>Directions</a:t>
            </a:r>
          </a:p>
          <a:p>
            <a:r>
              <a:rPr dirty="0" smtClean="0"/>
              <a:t>1</a:t>
            </a:r>
            <a:r>
              <a:rPr lang="en-US" dirty="0" smtClean="0"/>
              <a:t>1</a:t>
            </a:r>
            <a:r>
              <a:rPr dirty="0" smtClean="0"/>
              <a:t>. Conclusion</a:t>
            </a:r>
            <a:r>
              <a:rPr lang="en-US" dirty="0" smtClean="0"/>
              <a:t>                                                                               </a:t>
            </a:r>
            <a:r>
              <a:rPr lang="en-US" b="1" dirty="0" smtClean="0">
                <a:solidFill>
                  <a:srgbClr val="FF0000"/>
                </a:solidFill>
              </a:rPr>
              <a:t>2          </a:t>
            </a:r>
            <a:r>
              <a:rPr lang="en-US" dirty="0" smtClean="0"/>
              <a:t>                                                               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522" y="514596"/>
            <a:ext cx="5722278" cy="187234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        </a:t>
            </a:r>
            <a:b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2"/>
                </a:solidFill>
              </a:rPr>
              <a:t>Title:  </a:t>
            </a:r>
            <a:r>
              <a:rPr dirty="0" smtClean="0">
                <a:solidFill>
                  <a:schemeClr val="accent5"/>
                </a:solidFill>
              </a:rPr>
              <a:t>From </a:t>
            </a:r>
            <a:r>
              <a:rPr dirty="0" err="1">
                <a:solidFill>
                  <a:schemeClr val="accent5"/>
                </a:solidFill>
              </a:rPr>
              <a:t>ChatGPT</a:t>
            </a:r>
            <a:r>
              <a:rPr dirty="0">
                <a:solidFill>
                  <a:schemeClr val="accent5"/>
                </a:solidFill>
              </a:rPr>
              <a:t> to </a:t>
            </a:r>
            <a:r>
              <a:rPr dirty="0" err="1">
                <a:solidFill>
                  <a:schemeClr val="accent5"/>
                </a:solidFill>
              </a:rPr>
              <a:t>ThreatGPT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065" y="2814453"/>
            <a:ext cx="7735330" cy="3759342"/>
          </a:xfrm>
        </p:spPr>
        <p:txBody>
          <a:bodyPr>
            <a:normAutofit/>
          </a:bodyPr>
          <a:lstStyle/>
          <a:p>
            <a:r>
              <a:rPr dirty="0"/>
              <a:t>Impact of Generative AI in Cybersecurity and </a:t>
            </a:r>
            <a:r>
              <a:rPr dirty="0" smtClean="0"/>
              <a:t>Privacy</a:t>
            </a:r>
            <a:endParaRPr lang="en-US" dirty="0" smtClean="0"/>
          </a:p>
          <a:p>
            <a:endParaRPr dirty="0"/>
          </a:p>
          <a:p>
            <a:r>
              <a:rPr dirty="0"/>
              <a:t>Authors: </a:t>
            </a:r>
            <a:r>
              <a:rPr dirty="0" err="1"/>
              <a:t>Maanak</a:t>
            </a:r>
            <a:r>
              <a:rPr dirty="0"/>
              <a:t> Gupta </a:t>
            </a:r>
            <a:r>
              <a:rPr lang="en-US" dirty="0"/>
              <a:t>, </a:t>
            </a:r>
            <a:r>
              <a:rPr lang="en-US" dirty="0" err="1"/>
              <a:t>Kshitiz</a:t>
            </a:r>
            <a:r>
              <a:rPr lang="en-US" dirty="0"/>
              <a:t> </a:t>
            </a:r>
            <a:r>
              <a:rPr lang="en-US" dirty="0" err="1"/>
              <a:t>Aryal</a:t>
            </a:r>
            <a:r>
              <a:rPr lang="en-US"/>
              <a:t>, </a:t>
            </a:r>
            <a:r>
              <a:rPr lang="en-US"/>
              <a:t>Eli </a:t>
            </a:r>
            <a:r>
              <a:rPr lang="en-US" smtClean="0"/>
              <a:t>Parker, </a:t>
            </a:r>
            <a:r>
              <a:rPr lang="en-US" dirty="0" err="1"/>
              <a:t>Lopamudra</a:t>
            </a:r>
            <a:r>
              <a:rPr lang="en-US" dirty="0"/>
              <a:t> </a:t>
            </a:r>
            <a:r>
              <a:rPr lang="en-US" dirty="0" err="1" smtClean="0"/>
              <a:t>Praharaj</a:t>
            </a:r>
            <a:r>
              <a:rPr lang="en-US" dirty="0"/>
              <a:t>, </a:t>
            </a:r>
            <a:r>
              <a:rPr lang="en-US" dirty="0" err="1"/>
              <a:t>Charankumar</a:t>
            </a:r>
            <a:r>
              <a:rPr lang="en-US" dirty="0"/>
              <a:t> </a:t>
            </a:r>
            <a:r>
              <a:rPr lang="en-US" dirty="0" err="1"/>
              <a:t>Akiri</a:t>
            </a:r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/>
              <a:t>	</a:t>
            </a:r>
            <a:r>
              <a:rPr lang="en-US" dirty="0" smtClean="0"/>
              <a:t>												</a:t>
            </a:r>
            <a:r>
              <a:rPr lang="en-US" b="1" dirty="0" smtClean="0">
                <a:solidFill>
                  <a:srgbClr val="FF0000"/>
                </a:solidFill>
              </a:rPr>
              <a:t>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468" y="1709328"/>
            <a:ext cx="7686921" cy="4394910"/>
          </a:xfrm>
        </p:spPr>
        <p:txBody>
          <a:bodyPr>
            <a:normAutofit/>
          </a:bodyPr>
          <a:lstStyle/>
          <a:p>
            <a:r>
              <a:rPr dirty="0"/>
              <a:t>- Rise of Generative AI (</a:t>
            </a:r>
            <a:r>
              <a:rPr dirty="0" err="1"/>
              <a:t>GenAI</a:t>
            </a:r>
            <a:r>
              <a:rPr dirty="0"/>
              <a:t>) and LLMs like </a:t>
            </a:r>
            <a:r>
              <a:rPr dirty="0" err="1" smtClean="0"/>
              <a:t>ChatGPT</a:t>
            </a:r>
            <a:r>
              <a:rPr lang="en-US" dirty="0" smtClean="0"/>
              <a:t>           </a:t>
            </a:r>
            <a:r>
              <a:rPr lang="en-US" b="1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            </a:t>
            </a:r>
            <a:endParaRPr dirty="0"/>
          </a:p>
          <a:p>
            <a:r>
              <a:rPr dirty="0"/>
              <a:t>- Dual nature: beneficial and malicious </a:t>
            </a:r>
            <a:r>
              <a:rPr dirty="0" smtClean="0"/>
              <a:t>potential</a:t>
            </a:r>
            <a:endParaRPr dirty="0"/>
          </a:p>
          <a:p>
            <a:r>
              <a:rPr dirty="0"/>
              <a:t>- Growing concern in cybersecurity and privacy </a:t>
            </a:r>
            <a:r>
              <a:rPr dirty="0" smtClean="0"/>
              <a:t>domains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3657600" lvl="8" indent="0">
              <a:buNone/>
            </a:pPr>
            <a:endParaRPr lang="en-US" dirty="0" smtClean="0"/>
          </a:p>
          <a:p>
            <a:pPr marL="3657600" lvl="8" indent="0">
              <a:buNone/>
            </a:pPr>
            <a:endParaRPr lang="en-US" dirty="0"/>
          </a:p>
          <a:p>
            <a:pPr marL="3657600" lvl="8" indent="0">
              <a:buNone/>
            </a:pPr>
            <a:endParaRPr lang="en-US" dirty="0" smtClean="0"/>
          </a:p>
          <a:p>
            <a:pPr marL="3657600" lvl="8" indent="0">
              <a:buNone/>
            </a:pPr>
            <a:endParaRPr lang="en-US" dirty="0"/>
          </a:p>
          <a:p>
            <a:pPr marL="3657600" lvl="8" indent="0">
              <a:buNone/>
            </a:pPr>
            <a:endParaRPr lang="en-US" dirty="0" smtClean="0"/>
          </a:p>
          <a:p>
            <a:pPr marL="3657600" lvl="8" indent="0">
              <a:buNone/>
            </a:pPr>
            <a:endParaRPr lang="en-US" dirty="0"/>
          </a:p>
          <a:p>
            <a:pPr marL="3657600" lvl="8" indent="0">
              <a:buNone/>
            </a:pPr>
            <a:endParaRPr lang="en-US" dirty="0" smtClean="0"/>
          </a:p>
          <a:p>
            <a:pPr marL="3657600" lvl="8" indent="0">
              <a:buNone/>
            </a:pP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21482"/>
            <a:ext cx="7088660" cy="3880773"/>
          </a:xfrm>
        </p:spPr>
        <p:txBody>
          <a:bodyPr/>
          <a:lstStyle/>
          <a:p>
            <a:r>
              <a:rPr dirty="0"/>
              <a:t>- GPT-1 to GPT-4: evolution of capability and </a:t>
            </a:r>
            <a:r>
              <a:rPr dirty="0" smtClean="0"/>
              <a:t>scale</a:t>
            </a:r>
            <a:r>
              <a:rPr lang="en-US" dirty="0" smtClean="0"/>
              <a:t>               </a:t>
            </a:r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b="1" dirty="0">
              <a:solidFill>
                <a:srgbClr val="FF0000"/>
              </a:solidFill>
            </a:endParaRPr>
          </a:p>
          <a:p>
            <a:r>
              <a:rPr dirty="0"/>
              <a:t>- Transformer-based architectures</a:t>
            </a:r>
          </a:p>
          <a:p>
            <a:r>
              <a:rPr dirty="0"/>
              <a:t>- Use of massive datasets and self-supervised learning</a:t>
            </a:r>
          </a:p>
          <a:p>
            <a:r>
              <a:rPr dirty="0"/>
              <a:t>- Democratization of AI access (</a:t>
            </a:r>
            <a:r>
              <a:rPr dirty="0" err="1"/>
              <a:t>ChatGPT</a:t>
            </a:r>
            <a:r>
              <a:rPr dirty="0"/>
              <a:t>, Bard, Claude)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GenAI on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878596" cy="4110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													</a:t>
            </a:r>
            <a:r>
              <a:rPr lang="en-US" b="1" dirty="0" smtClean="0">
                <a:solidFill>
                  <a:srgbClr val="FF0000"/>
                </a:solidFill>
              </a:rPr>
              <a:t>6</a:t>
            </a:r>
          </a:p>
          <a:p>
            <a:r>
              <a:rPr dirty="0" smtClean="0"/>
              <a:t>- </a:t>
            </a:r>
            <a:r>
              <a:rPr dirty="0"/>
              <a:t>Offensive Uses: Automation of attacks, phishing, </a:t>
            </a:r>
            <a:r>
              <a:rPr lang="en-US" dirty="0" smtClean="0"/>
              <a:t> </a:t>
            </a:r>
            <a:r>
              <a:rPr dirty="0" smtClean="0"/>
              <a:t>malware generation</a:t>
            </a:r>
            <a:endParaRPr b="1" dirty="0">
              <a:solidFill>
                <a:srgbClr val="FF0000"/>
              </a:solidFill>
            </a:endParaRPr>
          </a:p>
          <a:p>
            <a:r>
              <a:rPr dirty="0"/>
              <a:t>- Defensive Uses: Threat detection, code review, risk analysis</a:t>
            </a:r>
          </a:p>
          <a:p>
            <a:r>
              <a:rPr dirty="0"/>
              <a:t>- Challenge: Same tools empower both attackers and defenders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Attacking ChatGPT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33079"/>
            <a:ext cx="6347714" cy="3880773"/>
          </a:xfrm>
        </p:spPr>
        <p:txBody>
          <a:bodyPr/>
          <a:lstStyle/>
          <a:p>
            <a:pPr marL="3657600" lvl="8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7</a:t>
            </a:r>
          </a:p>
          <a:p>
            <a:r>
              <a:rPr dirty="0" smtClean="0"/>
              <a:t>- </a:t>
            </a:r>
            <a:r>
              <a:rPr dirty="0"/>
              <a:t>Jailbreaking techniques (DAN, Switch, Character Roleplay)</a:t>
            </a:r>
          </a:p>
          <a:p>
            <a:r>
              <a:rPr dirty="0"/>
              <a:t>- Prompt injection and system prompt leaks</a:t>
            </a:r>
          </a:p>
          <a:p>
            <a:r>
              <a:rPr dirty="0"/>
              <a:t>- Reverse psychology and data exfiltration</a:t>
            </a:r>
          </a:p>
          <a:p>
            <a:r>
              <a:rPr dirty="0"/>
              <a:t>- Real examples: Bing prompt leak, DAN jailbreak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 for Cyber Offense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90575"/>
            <a:ext cx="6347714" cy="3880773"/>
          </a:xfrm>
        </p:spPr>
        <p:txBody>
          <a:bodyPr/>
          <a:lstStyle/>
          <a:p>
            <a:pPr lvl="8"/>
            <a:r>
              <a:rPr lang="en-US" dirty="0" smtClean="0"/>
              <a:t>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8</a:t>
            </a:r>
          </a:p>
          <a:p>
            <a:r>
              <a:rPr dirty="0" smtClean="0"/>
              <a:t>- </a:t>
            </a:r>
            <a:r>
              <a:rPr dirty="0"/>
              <a:t>Phishing and social engineering automation</a:t>
            </a:r>
          </a:p>
          <a:p>
            <a:r>
              <a:rPr dirty="0"/>
              <a:t>- Malicious code generation (Python, PowerShell, JS)</a:t>
            </a:r>
          </a:p>
          <a:p>
            <a:r>
              <a:rPr dirty="0"/>
              <a:t>- Ransomware and polymorphic malware creation</a:t>
            </a:r>
          </a:p>
          <a:p>
            <a:r>
              <a:rPr dirty="0"/>
              <a:t>- Bypassing filters via indirect prompting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ChatGPT</a:t>
            </a:r>
            <a:r>
              <a:rPr dirty="0"/>
              <a:t> for Cyber </a:t>
            </a:r>
            <a:r>
              <a:rPr dirty="0" smtClean="0"/>
              <a:t>Defense</a:t>
            </a: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97453"/>
            <a:ext cx="6347714" cy="3880773"/>
          </a:xfrm>
        </p:spPr>
        <p:txBody>
          <a:bodyPr/>
          <a:lstStyle/>
          <a:p>
            <a:pPr marL="4683125" lvl="8"/>
            <a:endParaRPr lang="en-US" dirty="0" smtClean="0"/>
          </a:p>
          <a:p>
            <a:r>
              <a:rPr dirty="0" smtClean="0"/>
              <a:t>- </a:t>
            </a:r>
            <a:r>
              <a:rPr dirty="0"/>
              <a:t>AI-assisted malware analysis and threat </a:t>
            </a:r>
            <a:r>
              <a:rPr dirty="0" smtClean="0"/>
              <a:t>hunting</a:t>
            </a:r>
            <a:r>
              <a:rPr lang="en-US" dirty="0" smtClean="0"/>
              <a:t>       </a:t>
            </a:r>
            <a:r>
              <a:rPr lang="en-US" b="1" dirty="0" smtClean="0">
                <a:solidFill>
                  <a:srgbClr val="FF0000"/>
                </a:solidFill>
              </a:rPr>
              <a:t>9</a:t>
            </a:r>
            <a:endParaRPr b="1" dirty="0">
              <a:solidFill>
                <a:srgbClr val="FF0000"/>
              </a:solidFill>
            </a:endParaRPr>
          </a:p>
          <a:p>
            <a:r>
              <a:rPr dirty="0"/>
              <a:t>- Automated vulnerability scanning</a:t>
            </a:r>
          </a:p>
          <a:p>
            <a:r>
              <a:rPr dirty="0"/>
              <a:t>- Generating secure code and patch suggestions</a:t>
            </a:r>
          </a:p>
          <a:p>
            <a:r>
              <a:rPr dirty="0"/>
              <a:t>- Threat intelligence and awareness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and Privacy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33079"/>
            <a:ext cx="6347714" cy="3880773"/>
          </a:xfrm>
        </p:spPr>
        <p:txBody>
          <a:bodyPr/>
          <a:lstStyle/>
          <a:p>
            <a:r>
              <a:rPr dirty="0"/>
              <a:t>- Bias, misinformation, and </a:t>
            </a:r>
            <a:r>
              <a:rPr dirty="0" smtClean="0"/>
              <a:t>hallucinations</a:t>
            </a:r>
            <a:r>
              <a:rPr lang="en-US" dirty="0" smtClean="0"/>
              <a:t>                  </a:t>
            </a:r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b="1" dirty="0">
              <a:solidFill>
                <a:srgbClr val="FF0000"/>
              </a:solidFill>
            </a:endParaRPr>
          </a:p>
          <a:p>
            <a:r>
              <a:rPr dirty="0"/>
              <a:t>- Privacy breaches and corporate data misuse</a:t>
            </a:r>
          </a:p>
          <a:p>
            <a:r>
              <a:rPr dirty="0"/>
              <a:t>- Example: Samsung data leak via </a:t>
            </a:r>
            <a:r>
              <a:rPr dirty="0" err="1"/>
              <a:t>ChatGPT</a:t>
            </a:r>
            <a:endParaRPr dirty="0"/>
          </a:p>
          <a:p>
            <a:r>
              <a:rPr dirty="0"/>
              <a:t>- Lack of </a:t>
            </a:r>
            <a:r>
              <a:rPr dirty="0" err="1"/>
              <a:t>explainability</a:t>
            </a:r>
            <a:r>
              <a:rPr dirty="0"/>
              <a:t> and 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 vs Google Bard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68704"/>
            <a:ext cx="6347714" cy="3880773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ChatGPT</a:t>
            </a:r>
            <a:r>
              <a:rPr dirty="0" smtClean="0"/>
              <a:t>:</a:t>
            </a:r>
            <a:r>
              <a:rPr lang="en-US" dirty="0" smtClean="0"/>
              <a:t>                                                                      </a:t>
            </a:r>
            <a:r>
              <a:rPr lang="en-US" b="1" dirty="0" smtClean="0">
                <a:solidFill>
                  <a:srgbClr val="FF0000"/>
                </a:solidFill>
              </a:rPr>
              <a:t>11</a:t>
            </a:r>
            <a:endParaRPr b="1" dirty="0">
              <a:solidFill>
                <a:srgbClr val="FF0000"/>
              </a:solidFill>
            </a:endParaRPr>
          </a:p>
          <a:p>
            <a:r>
              <a:rPr dirty="0" smtClean="0"/>
              <a:t>- Model: GPT-4 (</a:t>
            </a:r>
            <a:r>
              <a:rPr dirty="0" err="1" smtClean="0"/>
              <a:t>OpenAI</a:t>
            </a:r>
            <a:r>
              <a:rPr dirty="0" smtClean="0"/>
              <a:t>)</a:t>
            </a:r>
          </a:p>
          <a:p>
            <a:r>
              <a:rPr dirty="0" smtClean="0"/>
              <a:t>- </a:t>
            </a:r>
            <a:r>
              <a:rPr dirty="0"/>
              <a:t>Data: Public + licensed</a:t>
            </a:r>
          </a:p>
          <a:p>
            <a:r>
              <a:rPr dirty="0"/>
              <a:t>- Strength: Conversational accuracy</a:t>
            </a:r>
          </a:p>
          <a:p>
            <a:r>
              <a:rPr dirty="0"/>
              <a:t>- Weakness: Outdated context</a:t>
            </a:r>
          </a:p>
          <a:p>
            <a:endParaRPr dirty="0"/>
          </a:p>
          <a:p>
            <a:r>
              <a:rPr dirty="0"/>
              <a:t>Bard:</a:t>
            </a:r>
          </a:p>
          <a:p>
            <a:r>
              <a:rPr dirty="0"/>
              <a:t>- Model: </a:t>
            </a:r>
            <a:r>
              <a:rPr dirty="0" err="1"/>
              <a:t>PaLM</a:t>
            </a:r>
            <a:r>
              <a:rPr dirty="0"/>
              <a:t> 2 (Google)</a:t>
            </a:r>
          </a:p>
          <a:p>
            <a:r>
              <a:rPr dirty="0"/>
              <a:t>- Data: Real-time search</a:t>
            </a:r>
          </a:p>
          <a:p>
            <a:r>
              <a:rPr dirty="0"/>
              <a:t>- Strength: Up-to-date info</a:t>
            </a:r>
          </a:p>
          <a:p>
            <a:r>
              <a:rPr dirty="0"/>
              <a:t>- Weakness: Hallucination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8075"/>
            <a:ext cx="6347714" cy="3880773"/>
          </a:xfrm>
        </p:spPr>
        <p:txBody>
          <a:bodyPr/>
          <a:lstStyle/>
          <a:p>
            <a:r>
              <a:rPr dirty="0"/>
              <a:t>- Mitigating model hallucinations and </a:t>
            </a:r>
            <a:r>
              <a:rPr dirty="0" smtClean="0"/>
              <a:t>bias</a:t>
            </a:r>
            <a:r>
              <a:rPr lang="en-US" dirty="0" smtClean="0"/>
              <a:t>                  </a:t>
            </a:r>
            <a:r>
              <a:rPr lang="en-US" b="1" dirty="0" smtClean="0">
                <a:solidFill>
                  <a:srgbClr val="FF0000"/>
                </a:solidFill>
              </a:rPr>
              <a:t>12 </a:t>
            </a:r>
            <a:endParaRPr b="1" dirty="0">
              <a:solidFill>
                <a:srgbClr val="FF0000"/>
              </a:solidFill>
            </a:endParaRPr>
          </a:p>
          <a:p>
            <a:r>
              <a:rPr dirty="0"/>
              <a:t>- Adversarial prompt defense</a:t>
            </a:r>
          </a:p>
          <a:p>
            <a:r>
              <a:rPr dirty="0"/>
              <a:t>- Privacy-preserving LLMs</a:t>
            </a:r>
          </a:p>
          <a:p>
            <a:r>
              <a:rPr dirty="0"/>
              <a:t>- Responsible AI frameworks for cybersecurity</a:t>
            </a:r>
          </a:p>
          <a:p>
            <a:r>
              <a:rPr dirty="0"/>
              <a:t>- Continuous monitoring and guardrail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80579"/>
            <a:ext cx="7199871" cy="3880773"/>
          </a:xfrm>
        </p:spPr>
        <p:txBody>
          <a:bodyPr/>
          <a:lstStyle/>
          <a:p>
            <a:r>
              <a:rPr dirty="0"/>
              <a:t>- Generative AI is both a tool and a </a:t>
            </a:r>
            <a:r>
              <a:rPr dirty="0" smtClean="0"/>
              <a:t>threat</a:t>
            </a:r>
            <a:r>
              <a:rPr lang="en-US" dirty="0" smtClean="0"/>
              <a:t>               </a:t>
            </a:r>
            <a:r>
              <a:rPr lang="en-US" b="1" dirty="0" smtClean="0">
                <a:solidFill>
                  <a:srgbClr val="FF0000"/>
                </a:solidFill>
              </a:rPr>
              <a:t>13  </a:t>
            </a:r>
            <a:r>
              <a:rPr lang="en-US" dirty="0" smtClean="0"/>
              <a:t>   </a:t>
            </a:r>
            <a:endParaRPr dirty="0"/>
          </a:p>
          <a:p>
            <a:r>
              <a:rPr dirty="0"/>
              <a:t>- Urgent need for regulation and ethical AI use</a:t>
            </a:r>
          </a:p>
          <a:p>
            <a:r>
              <a:rPr dirty="0"/>
              <a:t>- Collaboration between AI and cybersecurity experts</a:t>
            </a:r>
          </a:p>
          <a:p>
            <a:r>
              <a:rPr dirty="0"/>
              <a:t>- The future depends on responsible innovation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599"/>
            <a:ext cx="6347713" cy="4924301"/>
          </a:xfrm>
        </p:spPr>
        <p:txBody>
          <a:bodyPr>
            <a:normAutofit/>
          </a:bodyPr>
          <a:lstStyle/>
          <a:p>
            <a:r>
              <a:rPr lang="en-US" sz="4000" dirty="0" smtClean="0"/>
              <a:t>              </a:t>
            </a:r>
            <a:r>
              <a:rPr sz="4000" dirty="0" smtClean="0"/>
              <a:t>A</a:t>
            </a:r>
            <a:r>
              <a:rPr lang="en-US" sz="4000" dirty="0" smtClean="0"/>
              <a:t>ny</a:t>
            </a:r>
            <a:br>
              <a:rPr lang="en-US" sz="4000" dirty="0" smtClean="0"/>
            </a:br>
            <a:r>
              <a:rPr lang="en-US" sz="4000" dirty="0"/>
              <a:t>	</a:t>
            </a:r>
            <a:r>
              <a:rPr lang="en-US" sz="4000" dirty="0" smtClean="0"/>
              <a:t>		 Questions ?         </a:t>
            </a:r>
            <a:r>
              <a:rPr lang="en-US" sz="1700" b="1" dirty="0" smtClean="0">
                <a:solidFill>
                  <a:srgbClr val="FF0000"/>
                </a:solidFill>
              </a:rPr>
              <a:t>14</a:t>
            </a:r>
            <a:endParaRPr lang="en-US" sz="1700" b="1" u="sng" dirty="0" smtClean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256" y="3186906"/>
            <a:ext cx="1943100" cy="18288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444</Words>
  <Application>Microsoft Office PowerPoint</Application>
  <PresentationFormat>On-screen Show (4:3)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</vt:lpstr>
      <vt:lpstr>Welcome Everyone</vt:lpstr>
      <vt:lpstr>Agenda</vt:lpstr>
      <vt:lpstr>          Title:  From ChatGPT to ThreatGPT</vt:lpstr>
      <vt:lpstr>Introduction</vt:lpstr>
      <vt:lpstr>Evolution of Generative AI</vt:lpstr>
      <vt:lpstr>Impact of GenAI on Cybersecurity</vt:lpstr>
      <vt:lpstr>Attacking ChatGPT</vt:lpstr>
      <vt:lpstr>ChatGPT for Cyber Offense</vt:lpstr>
      <vt:lpstr>ChatGPT for Cyber Defense </vt:lpstr>
      <vt:lpstr>Ethical and Privacy Issues</vt:lpstr>
      <vt:lpstr>ChatGPT vs Google Bard</vt:lpstr>
      <vt:lpstr>Future Research Directions</vt:lpstr>
      <vt:lpstr>Conclusion</vt:lpstr>
      <vt:lpstr>              Any     Questions ?         14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ChatGPT to ThreatGPT</dc:title>
  <dc:subject/>
  <dc:creator>Rock'r Chinmoy</dc:creator>
  <cp:keywords/>
  <dc:description>generated using python-pptx</dc:description>
  <cp:lastModifiedBy>Microsoft account</cp:lastModifiedBy>
  <cp:revision>10</cp:revision>
  <dcterms:created xsi:type="dcterms:W3CDTF">2013-01-27T09:14:16Z</dcterms:created>
  <dcterms:modified xsi:type="dcterms:W3CDTF">2025-10-31T13:10:09Z</dcterms:modified>
  <cp:category/>
</cp:coreProperties>
</file>